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D3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0568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a quién somos y de qué va el trabajo: seis ejercicios sobre el dogma central, hechos primero a mano y luego programados con Biopython. Todo el material está en el repositorio.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ejercicio lo hicimos primero a mano y después lo comprobamos con Biopython. Los cinco primeros van por partes y el sexto junta todo en un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Replicación semiconservativa: las dos hijas son idénticas a la original y cada una tiene una hebra vieja y otra nueva. En el notebook simulamos la horquilla con fragmentos de 4 nucleótidos para ver por qué la hebra retrasada va a saltos. Luego repasamos las cuatro enzimas.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simulamos en el notebook. Tras la segunda ronda ya no se puede saber cuál era la base original. CCG pasa a CAG y cambia un aminoácido. Según dónde caiga el cambio puede ser silencioso, de sentido erróneo o crear un paro.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molde es la inferior. La ARN polimerasa la lee de 3' a 5' y el ARNm sale igual que la codificante con U. Lo más útil fue cambiar la orientación del FASTA: si nos equivocamos de hebra, sale otra proteína y el script no da ningún aviso.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AUG es el inicio y UAA el paro, que no codifica aminoácido. La Met queda en el extremo N. Con cds=True Biopython comprueba que empieza y termina bien, y el resultado coincide con el manual.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del AUG escondido no lo vimos haciéndolo a mano, apareció al programarlo. La 3' UTR que usamos para la pérdida del paro es inventada, solo sirve para ilustrar.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Diseñamos un gen de juguete con longitudes pensadas para ver el marco de lectura. D pierde 8 aminoácidos pero el resto se conserva; en B y C todo lo que va detrás cambia. En FGFR2, la IIIb es epitelial y reconoce FGF7 y FGF10; la IIIc es mesenquimal y reconoce otros FGF.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orden de los aminoácidos decide el plegamiento. Los hidrofóbicos van dentro y los polares hacia el agua. Al meter una lisina donde había una valina, el GRAVY cae mucho. El caso al revés es la anemia falciforme: Glu6Val en la superficie de la hemoglobina.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una clase de Python que hace los tres pasos en orden y va escribiendo con logging lo que pasa en cada uno. Se usa desde el notebook o desde la terminal con python dogma_pipeline.py archivo.fasta. Con la insulina sale la preproinsulina, que empieza por el péptido señal MALWMRLL.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Metimos 2000 mutaciones puntuales aleatorias en la CDS. El reparto entre silenciosas, de sentido erróneo y sin sentido depende del código genético, no de la etapa. Lo que cambia es cuánto dura el daño: en el ADN afecta a todos los ARNm y se hereda; en la transcripción solo a un ARNm; en la traducción a una proteína. [Aquí podéis decir los porcentajes que os salgan al ejecutar el notebook.]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Cerramos con lo que más nos ha servido y dejamos el enlace al repositorio, donde están el notebook, el script dogma_pipeline.py y el informe en el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Lauuaguiar/from_DNA_to_protein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auuaguiar/from_DNA_to_protein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ble hélice de ADN decorativa"/>
          <p:cNvPicPr>
            <a:picLocks noChangeAspect="1"/>
          </p:cNvPicPr>
          <p:nvPr/>
        </p:nvPicPr>
        <p:blipFill>
          <a:blip r:embed="rId3"/>
          <a:srcRect l="-4" r="-4"/>
          <a:stretch/>
        </p:blipFill>
        <p:spPr>
          <a:xfrm>
            <a:off x="8445500" y="0"/>
            <a:ext cx="330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6FC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BIOINFORMÁTICA · SEPTIEMBRE 2026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2190750"/>
            <a:ext cx="719455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F2EFE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Del ADN</a:t>
            </a:r>
            <a:endParaRPr lang="en-US" sz="6000" dirty="0"/>
          </a:p>
          <a:p>
            <a:pPr marL="0" indent="0" algn="l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F2EFE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la proteína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812800" y="3994150"/>
            <a:ext cx="719455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BCD3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Replicación, transcripción y traducción con Biopython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12800" y="5488940"/>
            <a:ext cx="71945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2EF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Amai Suárez Navarro y Laura Aguia Pérez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12800" y="583184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>
                <a:solidFill>
                  <a:srgbClr val="BCD3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Código y notebook: </a:t>
            </a:r>
            <a:r>
              <a:rPr lang="en-US" sz="1200" dirty="0">
                <a:solidFill>
                  <a:srgbClr val="BCD3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4"/>
              </a:rPr>
              <a:t>https://github.com/Lauuaguiar/from_DNA_to_protein</a:t>
            </a:r>
            <a:endParaRPr lang="en-US" sz="1200" dirty="0">
              <a:solidFill>
                <a:srgbClr val="BCD3CF"/>
              </a:solidFill>
              <a:latin typeface="IBM Plex Sans" pitchFamily="34" charset="0"/>
              <a:ea typeface="IBM Plex Sans" pitchFamily="34" charset="-122"/>
              <a:cs typeface="IBM Plex Sans" pitchFamily="34" charset="-120"/>
            </a:endParaRPr>
          </a:p>
          <a:p>
            <a:pPr>
              <a:lnSpc>
                <a:spcPts val="1680"/>
              </a:lnSpc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843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TRABAJO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B2B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Seis ejercicios, un mismo camino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33575"/>
            <a:ext cx="3380264" cy="1624330"/>
          </a:xfrm>
          <a:prstGeom prst="roundRect">
            <a:avLst>
              <a:gd name="adj" fmla="val 6059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046480" y="2164080"/>
            <a:ext cx="300683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269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46480" y="2595880"/>
            <a:ext cx="300683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B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Replicación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6480" y="2900680"/>
            <a:ext cx="300683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Hebras nuevas, enzimas y un error que se queda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05789" y="1933575"/>
            <a:ext cx="3380343" cy="1624330"/>
          </a:xfrm>
          <a:prstGeom prst="roundRect">
            <a:avLst>
              <a:gd name="adj" fmla="val 6059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636294" y="2164080"/>
            <a:ext cx="300691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269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36294" y="2595880"/>
            <a:ext cx="30069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B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Transcripción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36294" y="2900680"/>
            <a:ext cx="300691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 la cadena molde al ARNm, leyendo un FASTA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95682" y="1933575"/>
            <a:ext cx="3380343" cy="1624330"/>
          </a:xfrm>
          <a:prstGeom prst="roundRect">
            <a:avLst>
              <a:gd name="adj" fmla="val 6059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8226187" y="2164080"/>
            <a:ext cx="300691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269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26187" y="2595880"/>
            <a:ext cx="30069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B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Traducción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6187" y="2900680"/>
            <a:ext cx="300691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Código genético y mutaciones en inicio y paro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5975" y="3767455"/>
            <a:ext cx="3380264" cy="1624330"/>
          </a:xfrm>
          <a:prstGeom prst="roundRect">
            <a:avLst>
              <a:gd name="adj" fmla="val 6059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1046480" y="3997960"/>
            <a:ext cx="300683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269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46480" y="4429760"/>
            <a:ext cx="300683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B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Splicing alternativo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46480" y="4734560"/>
            <a:ext cx="300683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gen, varias proteínas. FGFR2 en Ensembl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05789" y="3767455"/>
            <a:ext cx="3380343" cy="1624330"/>
          </a:xfrm>
          <a:prstGeom prst="roundRect">
            <a:avLst>
              <a:gd name="adj" fmla="val 6059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4636294" y="3997960"/>
            <a:ext cx="300691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269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636294" y="4429760"/>
            <a:ext cx="30069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B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Proteínas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36294" y="4734560"/>
            <a:ext cx="300691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Secuencia, hidropatía y estructura en el PDB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95682" y="3767455"/>
            <a:ext cx="3380343" cy="1624330"/>
          </a:xfrm>
          <a:prstGeom prst="roundRect">
            <a:avLst>
              <a:gd name="adj" fmla="val 6059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8226187" y="3997960"/>
            <a:ext cx="300691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B843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226187" y="4429760"/>
            <a:ext cx="30069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B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Pipeline completo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26187" y="4734560"/>
            <a:ext cx="300691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Insulina humana de NCBI, de FASTA a proteína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B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Suárez Navarro y Aguia Pérez ·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843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EJERCICIO 1 · REPLICACIÓN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B2B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Cada hija se queda con una hebra vieja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82775"/>
            <a:ext cx="4311650" cy="1296670"/>
          </a:xfrm>
          <a:prstGeom prst="roundRect">
            <a:avLst>
              <a:gd name="adj" fmla="val 7591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021080" y="2087880"/>
            <a:ext cx="401848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Molécula hija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1080" y="2352041"/>
            <a:ext cx="4018483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B2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5' ATG CCG TTA GCT 3'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21080" y="2688591"/>
            <a:ext cx="4018483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B843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3' TAC GGC AAT CGA 5'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15975" y="3388995"/>
            <a:ext cx="4311650" cy="1296670"/>
          </a:xfrm>
          <a:prstGeom prst="roundRect">
            <a:avLst>
              <a:gd name="adj" fmla="val 7591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1021080" y="3594100"/>
            <a:ext cx="401848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Molécula hija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1080" y="3858261"/>
            <a:ext cx="4018483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B843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5' ATG CCG TTA GCT 3'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21080" y="4194811"/>
            <a:ext cx="4018483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B2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3' TAC GGC AAT CGA 5'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4892041"/>
            <a:ext cx="444754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Negro: hebra parental. </a:t>
            </a:r>
            <a:r>
              <a:rPr lang="en-US" sz="1200" dirty="0">
                <a:solidFill>
                  <a:srgbClr val="B843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Coral: hebra nueva.</a:t>
            </a:r>
            <a:r>
              <a:rPr lang="en-US" sz="1200" dirty="0">
                <a:solidFill>
                  <a:srgbClr val="4A5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Biopython da lo mismo.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537200" y="1879600"/>
            <a:ext cx="5842000" cy="797560"/>
          </a:xfrm>
          <a:prstGeom prst="rect">
            <a:avLst/>
          </a:prstGeom>
          <a:solidFill>
            <a:srgbClr val="ECE8D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556250" y="1879600"/>
            <a:ext cx="0" cy="797560"/>
          </a:xfrm>
          <a:prstGeom prst="line">
            <a:avLst/>
          </a:prstGeom>
          <a:noFill/>
          <a:ln w="38100">
            <a:solidFill>
              <a:srgbClr val="2269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775960" y="2032000"/>
            <a:ext cx="556204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B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Helicasa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775960" y="2311400"/>
            <a:ext cx="556204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Abre la doble hélice rompiendo los puentes de hidrógeno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537200" y="2778761"/>
            <a:ext cx="5842000" cy="797560"/>
          </a:xfrm>
          <a:prstGeom prst="rect">
            <a:avLst/>
          </a:prstGeom>
          <a:solidFill>
            <a:srgbClr val="ECE8D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5556250" y="2778761"/>
            <a:ext cx="0" cy="797560"/>
          </a:xfrm>
          <a:prstGeom prst="line">
            <a:avLst/>
          </a:prstGeom>
          <a:noFill/>
          <a:ln w="38100">
            <a:solidFill>
              <a:srgbClr val="2269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775960" y="2931161"/>
            <a:ext cx="556204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B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Primasa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775960" y="3210561"/>
            <a:ext cx="556204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Pone el cebador de ARN que da el extremo 3'-OH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537200" y="3677920"/>
            <a:ext cx="5842000" cy="797560"/>
          </a:xfrm>
          <a:prstGeom prst="rect">
            <a:avLst/>
          </a:prstGeom>
          <a:solidFill>
            <a:srgbClr val="ECE8D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5556250" y="3677920"/>
            <a:ext cx="0" cy="797560"/>
          </a:xfrm>
          <a:prstGeom prst="line">
            <a:avLst/>
          </a:prstGeom>
          <a:noFill/>
          <a:ln w="38100">
            <a:solidFill>
              <a:srgbClr val="2269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5775960" y="3830320"/>
            <a:ext cx="556204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B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ADN polimerasa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775960" y="4109720"/>
            <a:ext cx="556204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Alarga en 5'→3': seguida en la líder, a trozos en la retrasada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537200" y="4577080"/>
            <a:ext cx="5842000" cy="797560"/>
          </a:xfrm>
          <a:prstGeom prst="rect">
            <a:avLst/>
          </a:prstGeom>
          <a:solidFill>
            <a:srgbClr val="ECE8D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5556250" y="4577080"/>
            <a:ext cx="0" cy="797560"/>
          </a:xfrm>
          <a:prstGeom prst="line">
            <a:avLst/>
          </a:prstGeom>
          <a:noFill/>
          <a:ln w="38100">
            <a:solidFill>
              <a:srgbClr val="2269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5775960" y="4729480"/>
            <a:ext cx="556204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B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Ligasa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775960" y="5008880"/>
            <a:ext cx="556204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Une los fragmentos de Okazaki en una hebra continua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B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Suárez Navarro y Aguia Pérez ·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843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EJERCICIO 1 · REFLEXIÓN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B2B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Un error sin corregir se copia en la siguiente ronda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60245"/>
            <a:ext cx="3041650" cy="1703070"/>
          </a:xfrm>
          <a:prstGeom prst="roundRect">
            <a:avLst>
              <a:gd name="adj" fmla="val 5779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046480" y="2190750"/>
            <a:ext cx="265805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B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Ronda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6480" y="2495550"/>
            <a:ext cx="2658059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B2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5' ATG CCG TTA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6480" y="2857500"/>
            <a:ext cx="2658059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B2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3' TAC G</a:t>
            </a:r>
            <a:r>
              <a:rPr lang="en-US" sz="1500" b="1" dirty="0">
                <a:solidFill>
                  <a:srgbClr val="B843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</a:t>
            </a:r>
            <a:r>
              <a:rPr lang="en-US" sz="1500" dirty="0">
                <a:solidFill>
                  <a:srgbClr val="1B2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 AAT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46480" y="3219450"/>
            <a:ext cx="265805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Entra una T donde tocaba una 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13200" y="25273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2269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575175" y="1960245"/>
            <a:ext cx="3041650" cy="1703070"/>
          </a:xfrm>
          <a:prstGeom prst="roundRect">
            <a:avLst>
              <a:gd name="adj" fmla="val 5779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805680" y="2190750"/>
            <a:ext cx="265805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B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Ronda 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05680" y="2495550"/>
            <a:ext cx="2658059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B2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5' ATG C</a:t>
            </a:r>
            <a:r>
              <a:rPr lang="en-US" sz="1500" b="1" dirty="0">
                <a:solidFill>
                  <a:srgbClr val="B843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</a:t>
            </a:r>
            <a:r>
              <a:rPr lang="en-US" sz="1500" dirty="0">
                <a:solidFill>
                  <a:srgbClr val="1B2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 TTA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05680" y="2857500"/>
            <a:ext cx="2658059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B2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3' TAC G</a:t>
            </a:r>
            <a:r>
              <a:rPr lang="en-US" sz="1500" b="1" dirty="0">
                <a:solidFill>
                  <a:srgbClr val="B843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</a:t>
            </a:r>
            <a:r>
              <a:rPr lang="en-US" sz="1500" dirty="0">
                <a:solidFill>
                  <a:srgbClr val="1B2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 AAT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05680" y="3219450"/>
            <a:ext cx="265805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cambio ya está en las dos hebras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0" y="25273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2269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8334375" y="1933575"/>
            <a:ext cx="3041650" cy="1756410"/>
          </a:xfrm>
          <a:prstGeom prst="roundRect">
            <a:avLst>
              <a:gd name="adj" fmla="val 5604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8564880" y="2164080"/>
            <a:ext cx="265805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B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Proteína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64880" y="2468880"/>
            <a:ext cx="2658059" cy="51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40"/>
              </a:lnSpc>
              <a:buNone/>
            </a:pPr>
            <a:r>
              <a:rPr lang="en-US" sz="3200" dirty="0">
                <a:solidFill>
                  <a:srgbClr val="1B2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</a:t>
            </a:r>
            <a:r>
              <a:rPr lang="en-US" sz="3200" b="1" dirty="0">
                <a:solidFill>
                  <a:srgbClr val="B843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</a:t>
            </a:r>
            <a:r>
              <a:rPr lang="en-US" sz="3200" dirty="0">
                <a:solidFill>
                  <a:srgbClr val="1B2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564880" y="3032761"/>
            <a:ext cx="265805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Antes MPLA: la prolina pasa a glutamina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4048761"/>
            <a:ext cx="850265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 fallan la corrección de la polimerasa y la reparación de desapareamientos, queda una mutación heredable.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B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Suárez Navarro y Aguia Pérez ·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843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EJERCICIO 2 · TRANSCRIPCIÓN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B2B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La orientación lo cambia todo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79600"/>
            <a:ext cx="44475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Codificante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2219961"/>
            <a:ext cx="444754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5' ATG CCT GAA TGC 3'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2613661"/>
            <a:ext cx="44475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Molde (la que se lee)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2954021"/>
            <a:ext cx="444754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3' TAC GGA CTT ACG 5'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800" y="3347721"/>
            <a:ext cx="44475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269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ARNm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800" y="3688082"/>
            <a:ext cx="444754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269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5' AUG CCU GAA UGC 3'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2800" y="4081782"/>
            <a:ext cx="444754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promotor queda antes del ATG (caja TATA hacia −25) y no aparece en el fragmento.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37200" y="1879600"/>
          <a:ext cx="5842000" cy="1879600"/>
        </p:xfrm>
        <a:graphic>
          <a:graphicData uri="http://schemas.openxmlformats.org/drawingml/2006/table">
            <a:tbl>
              <a:tblPr/>
              <a:tblGrid>
                <a:gridCol w="292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B2B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Lo que le damos al script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6C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B2B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Proteína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6C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Codificante en 5'→3'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6C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2695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MPEC · correcta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6C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Molde en 5'→3'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6C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2695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MPEC · correcta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6C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Molde tratada como codificante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6C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B843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AFRH · mal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6C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Molde pegada tal cual (3'→5')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6C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B843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RKSV · mal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6C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537200" y="3921761"/>
            <a:ext cx="601726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B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ordenador no avisa. Hace exactamente lo que le pides.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B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Suárez Navarro y Aguia Pérez ·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843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EJERCICIO 3 · TRADUCCIÓN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B2B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Cuatro codones, tres aminoácidos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325" y="1990725"/>
            <a:ext cx="2480310" cy="1456690"/>
          </a:xfrm>
          <a:prstGeom prst="roundRect">
            <a:avLst>
              <a:gd name="adj" fmla="val 6321"/>
            </a:avLst>
          </a:prstGeom>
          <a:solidFill>
            <a:srgbClr val="FBFAF6"/>
          </a:solidFill>
          <a:ln w="19050">
            <a:solidFill>
              <a:srgbClr val="2269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696720" y="2250439"/>
            <a:ext cx="78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1B2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596549" y="2921000"/>
            <a:ext cx="98258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B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 · inicio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518535" y="1984375"/>
            <a:ext cx="2472690" cy="1469390"/>
          </a:xfrm>
          <a:prstGeom prst="roundRect">
            <a:avLst>
              <a:gd name="adj" fmla="val 6698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389120" y="2240282"/>
            <a:ext cx="78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1B2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UAU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621689" y="2910839"/>
            <a:ext cx="31718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B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00775" y="1984375"/>
            <a:ext cx="2472690" cy="1469390"/>
          </a:xfrm>
          <a:prstGeom prst="roundRect">
            <a:avLst>
              <a:gd name="adj" fmla="val 6698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071360" y="2240282"/>
            <a:ext cx="78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1B2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GCU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299246" y="2910839"/>
            <a:ext cx="32646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B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889365" y="1990725"/>
            <a:ext cx="2480310" cy="1456690"/>
          </a:xfrm>
          <a:prstGeom prst="roundRect">
            <a:avLst>
              <a:gd name="adj" fmla="val 6321"/>
            </a:avLst>
          </a:prstGeom>
          <a:solidFill>
            <a:srgbClr val="FBFAF6"/>
          </a:solidFill>
          <a:ln w="19050">
            <a:solidFill>
              <a:srgbClr val="B843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9763760" y="2250439"/>
            <a:ext cx="78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1B2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UAA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935528" y="2921000"/>
            <a:ext cx="43870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B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800" y="3863339"/>
            <a:ext cx="22418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B2B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 · Met-Tyr-Ala · 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395742" y="3964939"/>
            <a:ext cx="254302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A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translate(cds=True) → 'MYA'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B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Suárez Navarro y Aguia Pérez ·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843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EJERCICIO 3 · MUTACIONES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B2B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Cuando fallan el inicio o el paro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82775"/>
            <a:ext cx="5175250" cy="2566670"/>
          </a:xfrm>
          <a:prstGeom prst="roundRect">
            <a:avLst>
              <a:gd name="adj" fmla="val 3835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071880" y="2138682"/>
            <a:ext cx="480334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2B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AUG → GUG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1880" y="2570482"/>
            <a:ext cx="480334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B2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GUG U</a:t>
            </a:r>
            <a:r>
              <a:rPr lang="en-US" sz="2000" b="1" dirty="0">
                <a:solidFill>
                  <a:srgbClr val="B843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AUG</a:t>
            </a:r>
            <a:r>
              <a:rPr lang="en-US" sz="2000" dirty="0">
                <a:solidFill>
                  <a:srgbClr val="1B2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CU UAA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1880" y="3053082"/>
            <a:ext cx="4803343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eucariotas GUG se lee como Val. El ribosoma buscaría el siguiente AUG, que está escondido en otro marco: Met-Leu y ya no hay paro.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71880" y="3980182"/>
            <a:ext cx="480334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269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bacterias (tabla 11) GUG sí inicia y sale MYA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00775" y="1882775"/>
            <a:ext cx="5175250" cy="2566670"/>
          </a:xfrm>
          <a:prstGeom prst="roundRect">
            <a:avLst>
              <a:gd name="adj" fmla="val 3835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456680" y="2138682"/>
            <a:ext cx="480334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2B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UAA → CAA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56680" y="2570482"/>
            <a:ext cx="480334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B2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MYA → MYA</a:t>
            </a:r>
            <a:r>
              <a:rPr lang="en-US" sz="2000" b="1" dirty="0">
                <a:solidFill>
                  <a:srgbClr val="B843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QAGF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56680" y="3053082"/>
            <a:ext cx="4803343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ribosoma sigue por la 3' UTR hasta el siguiente paro. Si no hay ninguno, llega a la cola poli-A y mete lisinas.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56680" y="3980182"/>
            <a:ext cx="480334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269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la célula ese ARNm acaba degradado (non-stop decay)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B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Suárez Navarro y Aguia Pérez ·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843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EJERCICIO 4 · SPLICING ALTERNATIVO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B2B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 que importa es si se quita un múltiplo de 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54200"/>
            <a:ext cx="431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B2B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97000" y="1828800"/>
            <a:ext cx="762000" cy="406400"/>
          </a:xfrm>
          <a:prstGeom prst="roundRect">
            <a:avLst>
              <a:gd name="adj" fmla="val 12500"/>
            </a:avLst>
          </a:prstGeom>
          <a:solidFill>
            <a:srgbClr val="2269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732280" y="1925321"/>
            <a:ext cx="1422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EF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09800" y="1828800"/>
            <a:ext cx="762000" cy="406400"/>
          </a:xfrm>
          <a:prstGeom prst="roundRect">
            <a:avLst>
              <a:gd name="adj" fmla="val 12500"/>
            </a:avLst>
          </a:prstGeom>
          <a:solidFill>
            <a:srgbClr val="2269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545080" y="1925321"/>
            <a:ext cx="1422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EF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22600" y="1828800"/>
            <a:ext cx="698500" cy="406400"/>
          </a:xfrm>
          <a:prstGeom prst="roundRect">
            <a:avLst>
              <a:gd name="adj" fmla="val 125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326130" y="1925321"/>
            <a:ext cx="1422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B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71900" y="1828800"/>
            <a:ext cx="825500" cy="406400"/>
          </a:xfrm>
          <a:prstGeom prst="roundRect">
            <a:avLst>
              <a:gd name="adj" fmla="val 125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138930" y="1925321"/>
            <a:ext cx="1422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B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48200" y="1828800"/>
            <a:ext cx="1460500" cy="406400"/>
          </a:xfrm>
          <a:prstGeom prst="roundRect">
            <a:avLst>
              <a:gd name="adj" fmla="val 12500"/>
            </a:avLst>
          </a:prstGeom>
          <a:solidFill>
            <a:srgbClr val="2269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5332730" y="1925321"/>
            <a:ext cx="1422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EF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6200" y="1898650"/>
            <a:ext cx="271365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269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 nt fuera · marco bien · 20 aa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800" y="2413000"/>
            <a:ext cx="431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B2B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397000" y="2387600"/>
            <a:ext cx="762000" cy="406400"/>
          </a:xfrm>
          <a:prstGeom prst="roundRect">
            <a:avLst>
              <a:gd name="adj" fmla="val 12500"/>
            </a:avLst>
          </a:prstGeom>
          <a:solidFill>
            <a:srgbClr val="2269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1732280" y="2484121"/>
            <a:ext cx="1422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EF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09800" y="2387600"/>
            <a:ext cx="762000" cy="406400"/>
          </a:xfrm>
          <a:prstGeom prst="roundRect">
            <a:avLst>
              <a:gd name="adj" fmla="val 12500"/>
            </a:avLst>
          </a:prstGeom>
          <a:solidFill>
            <a:srgbClr val="2269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2545080" y="2484121"/>
            <a:ext cx="1422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EF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022600" y="2387600"/>
            <a:ext cx="698500" cy="406400"/>
          </a:xfrm>
          <a:prstGeom prst="roundRect">
            <a:avLst>
              <a:gd name="adj" fmla="val 12500"/>
            </a:avLst>
          </a:prstGeom>
          <a:solidFill>
            <a:srgbClr val="E4E0D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3326130" y="2484121"/>
            <a:ext cx="1422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09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771900" y="2387600"/>
            <a:ext cx="825500" cy="406400"/>
          </a:xfrm>
          <a:prstGeom prst="roundRect">
            <a:avLst>
              <a:gd name="adj" fmla="val 125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4138930" y="2484121"/>
            <a:ext cx="1422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B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48200" y="2387600"/>
            <a:ext cx="1460500" cy="406400"/>
          </a:xfrm>
          <a:prstGeom prst="roundRect">
            <a:avLst>
              <a:gd name="adj" fmla="val 12500"/>
            </a:avLst>
          </a:prstGeom>
          <a:solidFill>
            <a:srgbClr val="2269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5332730" y="2484121"/>
            <a:ext cx="1422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EF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26200" y="2457450"/>
            <a:ext cx="348142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843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 nt fuera · marco desplazado · 18 aa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12800" y="2971800"/>
            <a:ext cx="431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B2B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1397000" y="2946400"/>
            <a:ext cx="762000" cy="406400"/>
          </a:xfrm>
          <a:prstGeom prst="roundRect">
            <a:avLst>
              <a:gd name="adj" fmla="val 12500"/>
            </a:avLst>
          </a:prstGeom>
          <a:solidFill>
            <a:srgbClr val="2269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1732280" y="3042921"/>
            <a:ext cx="1422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EF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209800" y="2946400"/>
            <a:ext cx="762000" cy="406400"/>
          </a:xfrm>
          <a:prstGeom prst="roundRect">
            <a:avLst>
              <a:gd name="adj" fmla="val 12500"/>
            </a:avLst>
          </a:prstGeom>
          <a:solidFill>
            <a:srgbClr val="E4E0D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2545080" y="3042921"/>
            <a:ext cx="1422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09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022600" y="2946400"/>
            <a:ext cx="698500" cy="406400"/>
          </a:xfrm>
          <a:prstGeom prst="roundRect">
            <a:avLst>
              <a:gd name="adj" fmla="val 125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3326130" y="3042921"/>
            <a:ext cx="1422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B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771900" y="2946400"/>
            <a:ext cx="825500" cy="406400"/>
          </a:xfrm>
          <a:prstGeom prst="roundRect">
            <a:avLst>
              <a:gd name="adj" fmla="val 12500"/>
            </a:avLst>
          </a:prstGeom>
          <a:solidFill>
            <a:srgbClr val="E4E0D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4138930" y="3042921"/>
            <a:ext cx="1422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09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648200" y="2946400"/>
            <a:ext cx="1460500" cy="406400"/>
          </a:xfrm>
          <a:prstGeom prst="roundRect">
            <a:avLst>
              <a:gd name="adj" fmla="val 12500"/>
            </a:avLst>
          </a:prstGeom>
          <a:solidFill>
            <a:srgbClr val="2269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5332730" y="3042921"/>
            <a:ext cx="1422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EF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26200" y="3016250"/>
            <a:ext cx="348142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843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25 nt fuera · marco desplazado · 15 aa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12800" y="3530600"/>
            <a:ext cx="431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B2B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1397000" y="3505200"/>
            <a:ext cx="762000" cy="406400"/>
          </a:xfrm>
          <a:prstGeom prst="roundRect">
            <a:avLst>
              <a:gd name="adj" fmla="val 12500"/>
            </a:avLst>
          </a:prstGeom>
          <a:solidFill>
            <a:srgbClr val="2269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1732280" y="3601721"/>
            <a:ext cx="1422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EF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209800" y="3505200"/>
            <a:ext cx="762000" cy="406400"/>
          </a:xfrm>
          <a:prstGeom prst="roundRect">
            <a:avLst>
              <a:gd name="adj" fmla="val 12500"/>
            </a:avLst>
          </a:prstGeom>
          <a:solidFill>
            <a:srgbClr val="2269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2545080" y="3601721"/>
            <a:ext cx="1422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EF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022600" y="3505200"/>
            <a:ext cx="698500" cy="406400"/>
          </a:xfrm>
          <a:prstGeom prst="roundRect">
            <a:avLst>
              <a:gd name="adj" fmla="val 12500"/>
            </a:avLst>
          </a:prstGeom>
          <a:solidFill>
            <a:srgbClr val="E4E0D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6" name="Text 44"/>
          <p:cNvSpPr/>
          <p:nvPr/>
        </p:nvSpPr>
        <p:spPr>
          <a:xfrm>
            <a:off x="3326130" y="3601721"/>
            <a:ext cx="1422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09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771900" y="3505200"/>
            <a:ext cx="825500" cy="406400"/>
          </a:xfrm>
          <a:prstGeom prst="roundRect">
            <a:avLst>
              <a:gd name="adj" fmla="val 12500"/>
            </a:avLst>
          </a:prstGeom>
          <a:solidFill>
            <a:srgbClr val="E4E0D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8" name="Text 46"/>
          <p:cNvSpPr/>
          <p:nvPr/>
        </p:nvSpPr>
        <p:spPr>
          <a:xfrm>
            <a:off x="4138930" y="3601721"/>
            <a:ext cx="1422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09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648200" y="3505200"/>
            <a:ext cx="1460500" cy="406400"/>
          </a:xfrm>
          <a:prstGeom prst="roundRect">
            <a:avLst>
              <a:gd name="adj" fmla="val 12500"/>
            </a:avLst>
          </a:prstGeom>
          <a:solidFill>
            <a:srgbClr val="2269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0" name="Text 48"/>
          <p:cNvSpPr/>
          <p:nvPr/>
        </p:nvSpPr>
        <p:spPr>
          <a:xfrm>
            <a:off x="5332730" y="3601721"/>
            <a:ext cx="1422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EF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426200" y="3575050"/>
            <a:ext cx="283138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269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24 nt fuera · marco bien · 12 aa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812800" y="41656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Exones en ocre (3 y 4): 11 y 13 nt, que no son múltiplos de 3 pero juntos suman 24. En gris, los exones que se saltan.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12800" y="4632964"/>
            <a:ext cx="981075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B2B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FGFR2 en Ensembl: las isoformas IIIb y IIIc cambian un exón del dominio Ig III, y con él los FGF que reconoce el receptor. 59 </a:t>
            </a:r>
            <a:r>
              <a:rPr lang="en-US" sz="1500" dirty="0" err="1">
                <a:solidFill>
                  <a:srgbClr val="1B2B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transcritos</a:t>
            </a:r>
            <a:r>
              <a:rPr lang="en-US" sz="1500" dirty="0">
                <a:solidFill>
                  <a:srgbClr val="1B2B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500" dirty="0" err="1">
                <a:solidFill>
                  <a:srgbClr val="1B2B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</a:t>
            </a:r>
            <a:r>
              <a:rPr lang="en-US" sz="1500" dirty="0">
                <a:solidFill>
                  <a:srgbClr val="1B2B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500" dirty="0" err="1">
                <a:solidFill>
                  <a:srgbClr val="1B2B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Ensembl</a:t>
            </a:r>
            <a:r>
              <a:rPr lang="en-US" sz="1500" dirty="0">
                <a:solidFill>
                  <a:srgbClr val="1B2B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de 56 a 822 aa.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B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Suárez Navarro y Aguia Pérez ·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75"/>
              </a:lnSpc>
              <a:buNone/>
            </a:pPr>
            <a:r>
              <a:rPr lang="en-US" sz="1196" b="1" kern="0" spc="150" dirty="0">
                <a:solidFill>
                  <a:srgbClr val="B843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EJERCICIO 5 · PROTEÍNAS</a:t>
            </a:r>
            <a:endParaRPr lang="en-US" sz="1196" dirty="0"/>
          </a:p>
        </p:txBody>
      </p:sp>
      <p:sp>
        <p:nvSpPr>
          <p:cNvPr id="3" name="Text 1"/>
          <p:cNvSpPr/>
          <p:nvPr/>
        </p:nvSpPr>
        <p:spPr>
          <a:xfrm>
            <a:off x="812800" y="1121649"/>
            <a:ext cx="10883392" cy="459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21"/>
              </a:lnSpc>
              <a:buNone/>
            </a:pPr>
            <a:r>
              <a:rPr lang="en-US" sz="3110" b="1" dirty="0">
                <a:solidFill>
                  <a:srgbClr val="1B2B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Dónde va cada residuo depende de su carácter</a:t>
            </a:r>
            <a:endParaRPr lang="en-US" sz="3110" dirty="0"/>
          </a:p>
        </p:txBody>
      </p:sp>
      <p:sp>
        <p:nvSpPr>
          <p:cNvPr id="4" name="Text 2"/>
          <p:cNvSpPr/>
          <p:nvPr/>
        </p:nvSpPr>
        <p:spPr>
          <a:xfrm>
            <a:off x="812800" y="1809831"/>
            <a:ext cx="57556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Hidropatía (Kyte-Doolittle). Verde, arriba: hidrofóbico. Coral, abajo: hidrofílico.</a:t>
            </a:r>
            <a:endParaRPr lang="en-US" sz="1200" dirty="0"/>
          </a:p>
        </p:txBody>
      </p:sp>
      <p:pic>
        <p:nvPicPr>
          <p:cNvPr id="5" name="Image 0" descr="Hidropatía Kyte-Doolittle de Met-Ile-Ser-Gly-Val-Lys-His: Met 1,9; Ile 4,5; Ser -0,8; Gly -0,4; Val 4,2; Lys -3,9; His -3,2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099388"/>
            <a:ext cx="5588000" cy="355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5731588"/>
            <a:ext cx="57556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Extremo N: Met · Extremo C: His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810375" y="1813006"/>
            <a:ext cx="4565650" cy="1771650"/>
          </a:xfrm>
          <a:prstGeom prst="roundRect">
            <a:avLst>
              <a:gd name="adj" fmla="val 5556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7040880" y="2043509"/>
            <a:ext cx="422777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Val5 → Lys (GRAVY)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040880" y="2307673"/>
            <a:ext cx="422777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1B2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0,33 → </a:t>
            </a:r>
            <a:r>
              <a:rPr lang="en-US" sz="3200" dirty="0">
                <a:solidFill>
                  <a:srgbClr val="B843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−0,83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7040880" y="2927431"/>
            <a:ext cx="422777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Una carga en el núcleo hidrofóbico lo desestabiliza. El pI pasa de 8,5 a 10.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810375" y="3794206"/>
            <a:ext cx="4565650" cy="1525270"/>
          </a:xfrm>
          <a:prstGeom prst="roundRect">
            <a:avLst>
              <a:gd name="adj" fmla="val 6453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7040880" y="4024709"/>
            <a:ext cx="422777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Ubiquitina, PDB 1UBQ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040880" y="4288873"/>
            <a:ext cx="4227779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B2B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76 aa con </a:t>
            </a:r>
            <a:r>
              <a:rPr lang="es-ES" sz="1500" dirty="0">
                <a:solidFill>
                  <a:srgbClr val="1B2B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33 residuos en lámina β y 16 en hélice</a:t>
            </a:r>
            <a:r>
              <a:rPr lang="en-US" sz="1500" dirty="0">
                <a:solidFill>
                  <a:srgbClr val="1B2B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Una prolina en mitad de la hélice bastaría para romperla.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B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Suárez Navarro y Aguia Pérez · 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843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EJERCICIO 6 ·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B2B2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 un FASTA de NCBI a la preproinsulina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84679"/>
            <a:ext cx="1741408" cy="797560"/>
          </a:xfrm>
          <a:prstGeom prst="roundRect">
            <a:avLst>
              <a:gd name="adj" fmla="val 9554"/>
            </a:avLst>
          </a:prstGeom>
          <a:solidFill>
            <a:srgbClr val="ECE8D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965200" y="2037079"/>
            <a:ext cx="148740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B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5200" y="2316479"/>
            <a:ext cx="14874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INS, 333 </a:t>
            </a:r>
            <a:r>
              <a:rPr lang="en-US" sz="1200" dirty="0" err="1">
                <a:solidFill>
                  <a:srgbClr val="4A5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55808" y="2105664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2269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014583" y="1882775"/>
            <a:ext cx="1745298" cy="801370"/>
          </a:xfrm>
          <a:prstGeom prst="roundRect">
            <a:avLst>
              <a:gd name="adj" fmla="val 9113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168888" y="2037079"/>
            <a:ext cx="14874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B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Replicación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168888" y="2316479"/>
            <a:ext cx="14874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Dos hebras nuevas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64656" y="2105664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2269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223431" y="1882775"/>
            <a:ext cx="1745218" cy="801370"/>
          </a:xfrm>
          <a:prstGeom prst="roundRect">
            <a:avLst>
              <a:gd name="adj" fmla="val 9113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377736" y="2037079"/>
            <a:ext cx="148740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B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Transcripción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77736" y="2316479"/>
            <a:ext cx="14874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Molde a ARNm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73424" y="2105664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2269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432199" y="1882775"/>
            <a:ext cx="1745218" cy="801370"/>
          </a:xfrm>
          <a:prstGeom prst="roundRect">
            <a:avLst>
              <a:gd name="adj" fmla="val 9113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7586504" y="2037079"/>
            <a:ext cx="148740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B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Traducción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586504" y="2316479"/>
            <a:ext cx="14874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ORF más largo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82192" y="2105664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2269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637792" y="1884679"/>
            <a:ext cx="1741408" cy="797560"/>
          </a:xfrm>
          <a:prstGeom prst="roundRect">
            <a:avLst>
              <a:gd name="adj" fmla="val 9554"/>
            </a:avLst>
          </a:prstGeom>
          <a:solidFill>
            <a:srgbClr val="2269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9790192" y="2037079"/>
            <a:ext cx="148740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2EF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Proteína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790192" y="2316479"/>
            <a:ext cx="14874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CEB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110 aa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2800" y="2992120"/>
            <a:ext cx="10566400" cy="2352039"/>
          </a:xfrm>
          <a:prstGeom prst="roundRect">
            <a:avLst>
              <a:gd name="adj" fmla="val 4706"/>
            </a:avLst>
          </a:prstGeom>
          <a:solidFill>
            <a:srgbClr val="1328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1066800" y="3195321"/>
            <a:ext cx="1036015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6FC3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PASO 1 · REPLICACIÓN (semiconservativa)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66800" y="3449321"/>
            <a:ext cx="1036015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BCD3C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Comprobación: moléculas hijas idénticas a la parental -&gt; True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66800" y="3703321"/>
            <a:ext cx="1036015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6FC3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PASO 2 · TRANSCRIPCIÓN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66800" y="3957321"/>
            <a:ext cx="1036015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BCD3C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Comprobación: ARNm == codificante con U -&gt; True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66800" y="4211321"/>
            <a:ext cx="1036015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6FC3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PASO 3 · TRADUCCIÓN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66800" y="4465321"/>
            <a:ext cx="1036015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BCD3C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Codones leídos : 111 -&gt; 110 aminoácidos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66800" y="4719321"/>
            <a:ext cx="1036015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BCD3C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Proteína (N-&gt;C): </a:t>
            </a:r>
            <a:r>
              <a:rPr lang="en-US" sz="1200" dirty="0">
                <a:solidFill>
                  <a:srgbClr val="F09A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MALWMRLLPLLALLALWGPDPAAAFVNQHL...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B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Suárez Navarro y Aguia Pérez · 10</a:t>
            </a:r>
            <a:endParaRPr lang="en-US" sz="1200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9CE4E036-5BE9-53BB-BF4B-EB8479B907EF}"/>
              </a:ext>
            </a:extLst>
          </p:cNvPr>
          <p:cNvSpPr txBox="1"/>
          <p:nvPr/>
        </p:nvSpPr>
        <p:spPr>
          <a:xfrm>
            <a:off x="965200" y="5006203"/>
            <a:ext cx="60975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>
                <a:solidFill>
                  <a:srgbClr val="BCD3CF"/>
                </a:solidFill>
                <a:latin typeface="JetBrains Mono"/>
              </a:rPr>
              <a:t>Masa ≈ 11.98 </a:t>
            </a:r>
            <a:r>
              <a:rPr lang="es-ES" sz="1200" dirty="0" err="1">
                <a:solidFill>
                  <a:srgbClr val="BCD3CF"/>
                </a:solidFill>
                <a:latin typeface="JetBrains Mono"/>
              </a:rPr>
              <a:t>kDa</a:t>
            </a:r>
            <a:r>
              <a:rPr lang="es-ES" sz="1200" dirty="0">
                <a:solidFill>
                  <a:srgbClr val="BCD3CF"/>
                </a:solidFill>
                <a:latin typeface="JetBrains Mono"/>
              </a:rPr>
              <a:t> | </a:t>
            </a:r>
            <a:r>
              <a:rPr lang="es-ES" sz="1200" dirty="0" err="1">
                <a:solidFill>
                  <a:srgbClr val="BCD3CF"/>
                </a:solidFill>
                <a:latin typeface="JetBrains Mono"/>
              </a:rPr>
              <a:t>pI</a:t>
            </a:r>
            <a:r>
              <a:rPr lang="es-ES" sz="1200" dirty="0">
                <a:solidFill>
                  <a:srgbClr val="BCD3CF"/>
                </a:solidFill>
                <a:latin typeface="JetBrains Mono"/>
              </a:rPr>
              <a:t> ≈ 5.22 | GRAVY = 0.193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068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B1A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EJERCICIO 6 · REFLEXIÓN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4"/>
            <a:ext cx="981075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B1A1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El punto más delicado es la replicación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901950"/>
            <a:ext cx="3421663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1B1A1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10 de 10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12800" y="3714750"/>
            <a:ext cx="342166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1A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proteínas mal si el error está en el ADN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947603" y="2901950"/>
            <a:ext cx="2561015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1B1A1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 de 10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947603" y="3714750"/>
            <a:ext cx="256101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1A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 está en un solo ARNm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800" y="5308600"/>
            <a:ext cx="91567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1A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ADN polimerasa se equivoca muy poco (en torno a 1 de cada 10⁹-10¹⁰ bases), pero sus errores son los únicos que se quedan y se heredan.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A201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Suárez Navarro y Aguia Pérez · 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6FC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 TERMINAR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2EFE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 que nos llevamos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806700"/>
            <a:ext cx="5130800" cy="0"/>
          </a:xfrm>
          <a:prstGeom prst="line">
            <a:avLst/>
          </a:prstGeom>
          <a:noFill/>
          <a:ln w="25400">
            <a:solidFill>
              <a:srgbClr val="6FC3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12800" y="3022600"/>
            <a:ext cx="5284724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F2EFE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La orientación de las hebras fue nuestra mayor fuente de errores, y el código no avisa.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248400" y="2806700"/>
            <a:ext cx="5130800" cy="0"/>
          </a:xfrm>
          <a:prstGeom prst="line">
            <a:avLst/>
          </a:prstGeom>
          <a:noFill/>
          <a:ln w="25400">
            <a:solidFill>
              <a:srgbClr val="F09A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248400" y="3022600"/>
            <a:ext cx="5284724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F2EFE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Las mutaciones fueron lo más interesante: salieron cosas que a mano no habíamos visto.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12800" y="5232400"/>
            <a:ext cx="270776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2EF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Notebook, pipeline e informe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799" y="5524500"/>
            <a:ext cx="3096727" cy="342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100"/>
              </a:lnSpc>
            </a:pPr>
            <a:r>
              <a:rPr lang="en-US" sz="1100" dirty="0">
                <a:hlinkClick r:id="rId3"/>
              </a:rPr>
              <a:t>https://github.com/Lauuaguiar/from_DNA_to_protein</a:t>
            </a:r>
            <a:endParaRPr lang="en-US" sz="1100" dirty="0"/>
          </a:p>
          <a:p>
            <a:pPr>
              <a:lnSpc>
                <a:spcPts val="2100"/>
              </a:lnSpc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043274" y="5273042"/>
            <a:ext cx="240600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2EFE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¿Preguntas?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CD3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Amai Suárez Navarro y Laura Aguia Pérez · 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1706</Words>
  <Application>Microsoft Office PowerPoint</Application>
  <PresentationFormat>Panorámica</PresentationFormat>
  <Paragraphs>216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IBM Plex Sans</vt:lpstr>
      <vt:lpstr>JetBrains Mono</vt:lpstr>
      <vt:lpstr>Source Serif 4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 ADN a la proteína con Biopython</dc:title>
  <dc:subject>PptxGenJS Presentation</dc:subject>
  <dc:creator>PptxGenJS</dc:creator>
  <cp:lastModifiedBy>Laura Aguiar</cp:lastModifiedBy>
  <cp:revision>2</cp:revision>
  <dcterms:created xsi:type="dcterms:W3CDTF">2026-09-23T09:22:46Z</dcterms:created>
  <dcterms:modified xsi:type="dcterms:W3CDTF">2026-09-23T09:44:44Z</dcterms:modified>
</cp:coreProperties>
</file>